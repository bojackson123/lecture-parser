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four ingredients and keep coming back to them. Students usually confuse the reward function with the value function, so stress that the reward is immediate and given. The discount factor is introduced here only so the equation on the next slide makes sense.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left column top to bottom before touching the intuition column. The recursion is the point: the same V appears on both sides. Mention that this will be on the exam.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through one sweep by hand if time allows. The plot is the maximum change between successive sweeps on a small grid world; it falls geometrically with rate gamma. Close by previewing model-free methods next week.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Markov Decision Processes</a:t>
            </a:r>
          </a:p>
        </p:txBody>
      </p:sp>
      <p:sp>
        <p:nvSpPr>
          <p:cNvPr id="3" name="Content Placeholder 2"/>
          <p:cNvSpPr>
            <a:spLocks noGrp="1"/>
          </p:cNvSpPr>
          <p:nvPr>
            <p:ph idx="1"/>
          </p:nvPr>
        </p:nvSpPr>
        <p:spPr/>
        <p:txBody>
          <a:bodyPr/>
          <a:lstStyle/>
          <a:p>
            <a:r>
              <a:rPr sz="2000"/>
              <a:t>States s in S: everything the agent needs to know about the world right now</a:t>
            </a:r>
          </a:p>
          <a:p>
            <a:r>
              <a:rPr sz="2000"/>
              <a:t>Actions a in A: the choices available in each state</a:t>
            </a:r>
          </a:p>
          <a:p>
            <a:r>
              <a:rPr sz="2000"/>
              <a:t>Reward R(s, a): a number received for taking action a in state s</a:t>
            </a:r>
          </a:p>
          <a:p>
            <a:r>
              <a:rPr sz="2000"/>
              <a:t>Transition function T(s, a, s'): where you land after each action</a:t>
            </a:r>
          </a:p>
          <a:p>
            <a:r>
              <a:rPr sz="2000"/>
              <a:t>Discount factor gamma in [0, 1): how much later rewards count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Bellman Equation</a:t>
            </a:r>
          </a:p>
        </p:txBody>
      </p:sp>
      <p:sp>
        <p:nvSpPr>
          <p:cNvPr id="3" name="Content Placeholder 2"/>
          <p:cNvSpPr>
            <a:spLocks noGrp="1"/>
          </p:cNvSpPr>
          <p:nvPr>
            <p:ph idx="1" sz="half"/>
          </p:nvPr>
        </p:nvSpPr>
        <p:spPr/>
        <p:txBody>
          <a:bodyPr/>
          <a:lstStyle/>
          <a:p>
            <a:r>
              <a:rPr sz="2000"/>
              <a:t>Equation</a:t>
            </a:r>
          </a:p>
          <a:p>
            <a:r>
              <a:rPr sz="2000"/>
              <a:t>V(s) = max_a [ R(s, a) + gamma * sum_s' T(s, a, s') V(s') ]</a:t>
            </a:r>
          </a:p>
          <a:p>
            <a:r>
              <a:rPr sz="2000"/>
              <a:t>V(s): value of state s</a:t>
            </a:r>
          </a:p>
          <a:p>
            <a:r>
              <a:rPr sz="2000"/>
              <a:t>max_a: best action available</a:t>
            </a:r>
          </a:p>
          <a:p>
            <a:r>
              <a:rPr sz="2000"/>
              <a:t>sum_s' T(s, a, s'): expectation over next states</a:t>
            </a:r>
          </a:p>
          <a:p>
            <a:r>
              <a:rPr sz="2000"/>
              <a:t>gamma: discount factor</a:t>
            </a:r>
          </a:p>
        </p:txBody>
      </p:sp>
      <p:sp>
        <p:nvSpPr>
          <p:cNvPr id="4" name="Content Placeholder 3"/>
          <p:cNvSpPr>
            <a:spLocks noGrp="1"/>
          </p:cNvSpPr>
          <p:nvPr>
            <p:ph idx="2" sz="half"/>
          </p:nvPr>
        </p:nvSpPr>
        <p:spPr/>
        <p:txBody>
          <a:bodyPr/>
          <a:lstStyle/>
          <a:p>
            <a:r>
              <a:rPr sz="2000"/>
              <a:t>Intuition</a:t>
            </a:r>
          </a:p>
          <a:p>
            <a:r>
              <a:rPr sz="2000"/>
              <a:t>Value = immediate reward + discounted future</a:t>
            </a:r>
          </a:p>
          <a:p>
            <a:r>
              <a:rPr sz="2000"/>
              <a:t>Recursive: V appears on both sides</a:t>
            </a:r>
          </a:p>
          <a:p>
            <a:r>
              <a:rPr sz="2000"/>
              <a:t>Exactly one fixed point</a:t>
            </a:r>
          </a:p>
          <a:p>
            <a:r>
              <a:rPr sz="2000"/>
              <a:t>Solve it by repeated substitution</a:t>
            </a:r>
          </a:p>
          <a:p>
            <a:r>
              <a:rPr sz="2000"/>
              <a:t>Everything else in the course builds on this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Value Iteration</a:t>
            </a:r>
          </a:p>
        </p:txBody>
      </p:sp>
      <p:sp>
        <p:nvSpPr>
          <p:cNvPr id="3" name="Content Placeholder 2"/>
          <p:cNvSpPr>
            <a:spLocks noGrp="1"/>
          </p:cNvSpPr>
          <p:nvPr>
            <p:ph idx="1"/>
          </p:nvPr>
        </p:nvSpPr>
        <p:spPr>
          <a:xfrm>
            <a:ext cx="7132320" cy="0"/>
          </a:xfrm>
        </p:spPr>
        <p:txBody>
          <a:bodyPr/>
          <a:lstStyle/>
          <a:p>
            <a:r>
              <a:rPr sz="2000"/>
              <a:t>1. Initialise V_0(s) = 0 for every state</a:t>
            </a:r>
          </a:p>
          <a:p>
            <a:r>
              <a:rPr sz="2000"/>
              <a:t>2. Sweep: V_{k+1}(s) = max_a [ R(s, a) +</a:t>
            </a:r>
          </a:p>
          <a:p>
            <a:r>
              <a:rPr sz="2000"/>
              <a:t>       gamma * sum_s' T(s, a, s') V_k(s') ]</a:t>
            </a:r>
          </a:p>
          <a:p>
            <a:r>
              <a:rPr sz="2000"/>
              <a:t>3. Stop when max_s |V_{k+1}(s) - V_k(s)| &lt; epsilon</a:t>
            </a:r>
          </a:p>
          <a:p>
            <a:r>
              <a:rPr sz="2000"/>
              <a:t>4. Read off the greedy policy pi(s) = argmax_a [ ... ]</a:t>
            </a:r>
          </a:p>
        </p:txBody>
      </p:sp>
      <p:pic>
        <p:nvPicPr>
          <p:cNvPr id="4" name="Picture 3" descr="image.png"/>
          <p:cNvPicPr>
            <a:picLocks noChangeAspect="1"/>
          </p:cNvPicPr>
          <p:nvPr/>
        </p:nvPicPr>
        <p:blipFill>
          <a:blip r:embed="rId2"/>
          <a:stretch>
            <a:fillRect/>
          </a:stretch>
        </p:blipFill>
        <p:spPr>
          <a:xfrm>
            <a:off x="7863840" y="2377440"/>
            <a:ext cx="3657600" cy="2286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 MDPs and the Bellman Equation</dc:title>
  <dc:subject>lecturenotes test fixture</dc:subject>
  <dc:creator>lecturenotes fixtures</dc:creator>
  <cp:keywords/>
  <dc:description>generated using python-pptx</dc:description>
  <cp:lastModifiedBy>lecturenotes fixtures</cp:lastModifiedBy>
  <cp:revision>1</cp:revision>
  <dcterms:created xsi:type="dcterms:W3CDTF">2026-01-05T09:00:00Z</dcterms:created>
  <dcterms:modified xsi:type="dcterms:W3CDTF">2026-01-05T09:00:00Z</dcterms:modified>
  <cp:category/>
  <cp:lastPrinted>2026-01-05T09:00:00Z</cp:lastPrinted>
</cp:coreProperties>
</file>